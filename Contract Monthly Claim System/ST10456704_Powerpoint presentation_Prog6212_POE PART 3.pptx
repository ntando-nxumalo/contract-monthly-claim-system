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4630400" cy="8229600"/>
  <p:notesSz cx="8229600" cy="14630400"/>
  <p:embeddedFontLst>
    <p:embeddedFont>
      <p:font typeface="Roboto Medium"/>
      <p:regular r:id="rId22"/>
    </p:embeddedFont>
    <p:embeddedFont>
      <p:font typeface="Roboto Medium"/>
      <p:regular r:id="rId23"/>
    </p:embeddedFont>
    <p:embeddedFont>
      <p:font typeface="Roboto Medium"/>
      <p:regular r:id="rId24"/>
    </p:embeddedFont>
    <p:embeddedFont>
      <p:font typeface="Roboto Medium"/>
      <p:regular r:id="rId25"/>
    </p:embeddedFont>
    <p:embeddedFont>
      <p:font typeface="Roboto"/>
      <p:regular r:id="rId26"/>
    </p:embeddedFont>
    <p:embeddedFont>
      <p:font typeface="Roboto"/>
      <p:regular r:id="rId27"/>
    </p:embeddedFont>
    <p:embeddedFont>
      <p:font typeface="Roboto"/>
      <p:regular r:id="rId28"/>
    </p:embeddedFont>
    <p:embeddedFont>
      <p:font typeface="Roboto"/>
      <p:regular r:id="rId2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2" Type="http://schemas.openxmlformats.org/officeDocument/2006/relationships/image" Target="../media/image-1015-2.png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2" Type="http://schemas.openxmlformats.org/officeDocument/2006/relationships/image" Target="../media/image-1016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slideLayout" Target="../slideLayouts/slideLayout16.xml"/><Relationship Id="rId1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1525905"/>
            <a:ext cx="4919305" cy="517767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Contract Monthly Claim System (CMCS)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Streamlining monthly lecturer claims end-to-end with speed, accuracy, transparency, and auditability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1290" y="1005840"/>
            <a:ext cx="3131820" cy="6217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645795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Roles &amp; Access Model</a:t>
            </a:r>
            <a:endParaRPr lang="en-US" sz="29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1327666"/>
            <a:ext cx="368498" cy="36849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93790" y="188035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Lecturer</a:t>
            </a:r>
            <a:endParaRPr lang="en-US" sz="1450" dirty="0"/>
          </a:p>
        </p:txBody>
      </p:sp>
      <p:sp>
        <p:nvSpPr>
          <p:cNvPr id="7" name="Text 2"/>
          <p:cNvSpPr/>
          <p:nvPr/>
        </p:nvSpPr>
        <p:spPr>
          <a:xfrm>
            <a:off x="793790" y="2199084"/>
            <a:ext cx="755642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course content, submits claims, accesses role-based dashboards and permissions with [Authorize] and least-privilege principles.</a:t>
            </a:r>
            <a:endParaRPr lang="en-US" sz="11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2965371"/>
            <a:ext cx="368498" cy="36849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93790" y="351805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Program Coordinator</a:t>
            </a:r>
            <a:endParaRPr lang="en-US" sz="1450" dirty="0"/>
          </a:p>
        </p:txBody>
      </p:sp>
      <p:sp>
        <p:nvSpPr>
          <p:cNvPr id="10" name="Text 4"/>
          <p:cNvSpPr/>
          <p:nvPr/>
        </p:nvSpPr>
        <p:spPr>
          <a:xfrm>
            <a:off x="793790" y="3836789"/>
            <a:ext cx="755642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Reviews and approves claims, monitors program budgets, accesses role-based dashboards and permissions with [Authorize] and least-privilege principles.</a:t>
            </a:r>
            <a:endParaRPr lang="en-US" sz="11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603075"/>
            <a:ext cx="368498" cy="36849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93790" y="515576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Academic Manager</a:t>
            </a:r>
            <a:endParaRPr lang="en-US" sz="1450" dirty="0"/>
          </a:p>
        </p:txBody>
      </p:sp>
      <p:sp>
        <p:nvSpPr>
          <p:cNvPr id="13" name="Text 6"/>
          <p:cNvSpPr/>
          <p:nvPr/>
        </p:nvSpPr>
        <p:spPr>
          <a:xfrm>
            <a:off x="793790" y="5474494"/>
            <a:ext cx="755642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Oversees academic operations, strategic planning, accesses role-based dashboards and permissions with [Authorize] and least-privilege principles.</a:t>
            </a:r>
            <a:endParaRPr lang="en-US" sz="11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6240780"/>
            <a:ext cx="368498" cy="36849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93790" y="679346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HR</a:t>
            </a:r>
            <a:endParaRPr lang="en-US" sz="1450" dirty="0"/>
          </a:p>
        </p:txBody>
      </p:sp>
      <p:sp>
        <p:nvSpPr>
          <p:cNvPr id="16" name="Text 8"/>
          <p:cNvSpPr/>
          <p:nvPr/>
        </p:nvSpPr>
        <p:spPr>
          <a:xfrm>
            <a:off x="793790" y="7112198"/>
            <a:ext cx="755642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staff records, payroll integration, accesses role-based dashboards and permissions with [Authorize] and least-privilege principles.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5673"/>
            <a:ext cx="6872526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Lecturer Experience — Submit Claim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565434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Lecturers can easily submit claims with the following features: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93790" y="1990606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Title, Date, Category, Hours, Rate, Notes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93790" y="2322314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attachments (PDF/DOCX/XLSX)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3790" y="2654022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 total calculation + validations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3790" y="2985730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status on LectureDashboard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0346" y="1603772"/>
            <a:ext cx="4735354" cy="58088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88" y="1715453"/>
            <a:ext cx="4919305" cy="47985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157317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Document Handling &amp; Security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6280190" y="3330893"/>
            <a:ext cx="3664744" cy="1730812"/>
          </a:xfrm>
          <a:prstGeom prst="roundRect">
            <a:avLst>
              <a:gd name="adj" fmla="val 5504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537484" y="3588187"/>
            <a:ext cx="28938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ClaimDocument Model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537484" y="4078605"/>
            <a:ext cx="31501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files per claim, metadata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10171748" y="3330893"/>
            <a:ext cx="3664863" cy="1730812"/>
          </a:xfrm>
          <a:prstGeom prst="roundRect">
            <a:avLst>
              <a:gd name="adj" fmla="val 5504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429042" y="35881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Secure Downloads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429042" y="4078605"/>
            <a:ext cx="31502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Owner/coordinator/manager/HR access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6280190" y="5288518"/>
            <a:ext cx="7556421" cy="1367909"/>
          </a:xfrm>
          <a:prstGeom prst="roundRect">
            <a:avLst>
              <a:gd name="adj" fmla="val 6964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37484" y="55458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Access Control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537484" y="6036231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Controller level checks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4181"/>
            <a:ext cx="73090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Workflow — Approve / Reject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68272"/>
            <a:ext cx="6244709" cy="4541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31719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Coordinator/Manager dashboards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599521" y="275939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Approve/Reject actions with instant updates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320159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Partial row refresh for snappy UX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2296477"/>
            <a:ext cx="4919305" cy="363664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70413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Real-time Collaboration (SignalR)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246185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 live updates without page reloads, fostering seamless collaboration across all roles</a:t>
            </a:r>
            <a:endParaRPr lang="en-US" sz="1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42811"/>
            <a:ext cx="1134070" cy="136088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154674" y="36696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Live Status Changes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2154674" y="416004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reload needed</a:t>
            </a:r>
            <a:endParaRPr lang="en-US" sz="17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803696"/>
            <a:ext cx="1134070" cy="136088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154674" y="5030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SignalR Groups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2154674" y="552092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Coordinators, HR, per-user</a:t>
            </a:r>
            <a:endParaRPr lang="en-US" sz="17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6164580"/>
            <a:ext cx="1134070" cy="136088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154674" y="63913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Controller Broadcast</a:t>
            </a:r>
            <a:endParaRPr lang="en-US" sz="2200" dirty="0"/>
          </a:p>
        </p:txBody>
      </p:sp>
      <p:sp>
        <p:nvSpPr>
          <p:cNvPr id="14" name="Text 7"/>
          <p:cNvSpPr/>
          <p:nvPr/>
        </p:nvSpPr>
        <p:spPr>
          <a:xfrm>
            <a:off x="2154674" y="688181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 submit/approve/reject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1710"/>
            <a:ext cx="95110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HR Dashboard &amp; Payment Processing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547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Approved claims queue with totals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9969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 as Paid AJAX JSON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4391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Payslip preview/save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8813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Lecturer profile updates</a:t>
            </a:r>
            <a:endParaRPr lang="en-US" sz="1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9521" y="2605802"/>
            <a:ext cx="6244709" cy="40669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2780347"/>
            <a:ext cx="4919305" cy="26687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1641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Reporting &amp; Exports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221313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comprehensive reports and export data in various formats for analysis and record-keeping</a:t>
            </a:r>
            <a:endParaRPr lang="en-US" sz="1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194090"/>
            <a:ext cx="566976" cy="5669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644253" y="33287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Excel Export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644253" y="3819168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export via ClosedXML</a:t>
            </a:r>
            <a:endParaRPr lang="en-US" sz="17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635698"/>
            <a:ext cx="566976" cy="56697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44253" y="4770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PDF Reports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1644253" y="5260777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reports using QuestPDF</a:t>
            </a:r>
            <a:endParaRPr lang="en-US" sz="17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6077307"/>
            <a:ext cx="566976" cy="56697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644253" y="6211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Printable Reports</a:t>
            </a:r>
            <a:endParaRPr lang="en-US" sz="2200" dirty="0"/>
          </a:p>
        </p:txBody>
      </p:sp>
      <p:sp>
        <p:nvSpPr>
          <p:cNvPr id="14" name="Text 7"/>
          <p:cNvSpPr/>
          <p:nvPr/>
        </p:nvSpPr>
        <p:spPr>
          <a:xfrm>
            <a:off x="1644253" y="6702385"/>
            <a:ext cx="67059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Approved Claims Report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2204204"/>
            <a:ext cx="4919305" cy="3821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013103"/>
            <a:ext cx="61351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Security &amp; Authorization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206204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 security measures ensure data integrity and user access control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793790" y="2680097"/>
            <a:ext cx="907256" cy="1360884"/>
          </a:xfrm>
          <a:prstGeom prst="roundRect">
            <a:avLst>
              <a:gd name="adj" fmla="val 36002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7278" y="3190399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27860" y="29069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Identity Roles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927860" y="3397329"/>
            <a:ext cx="64223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Defined in Program.cs</a:t>
            </a:r>
            <a:endParaRPr lang="en-US" sz="1750" dirty="0"/>
          </a:p>
        </p:txBody>
      </p:sp>
      <p:sp>
        <p:nvSpPr>
          <p:cNvPr id="10" name="Shape 5"/>
          <p:cNvSpPr/>
          <p:nvPr/>
        </p:nvSpPr>
        <p:spPr>
          <a:xfrm>
            <a:off x="793790" y="4267795"/>
            <a:ext cx="907256" cy="1360884"/>
          </a:xfrm>
          <a:prstGeom prst="roundRect">
            <a:avLst>
              <a:gd name="adj" fmla="val 36002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7278" y="4778097"/>
            <a:ext cx="340162" cy="3401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927860" y="44946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Authorization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1927860" y="4985028"/>
            <a:ext cx="64223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[Authorize] attributes</a:t>
            </a:r>
            <a:endParaRPr lang="en-US" sz="1750" dirty="0"/>
          </a:p>
        </p:txBody>
      </p:sp>
      <p:sp>
        <p:nvSpPr>
          <p:cNvPr id="14" name="Shape 8"/>
          <p:cNvSpPr/>
          <p:nvPr/>
        </p:nvSpPr>
        <p:spPr>
          <a:xfrm>
            <a:off x="793790" y="5855494"/>
            <a:ext cx="907256" cy="1360884"/>
          </a:xfrm>
          <a:prstGeom prst="roundRect">
            <a:avLst>
              <a:gd name="adj" fmla="val 36002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7278" y="6365796"/>
            <a:ext cx="340162" cy="3401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27860" y="60823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Document Access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927860" y="6572726"/>
            <a:ext cx="64223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restrictions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2002512"/>
            <a:ext cx="4919305" cy="42244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7546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 Integrity &amp; Rounding Rules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3512344"/>
            <a:ext cx="7556421" cy="1367909"/>
          </a:xfrm>
          <a:prstGeom prst="roundRect">
            <a:avLst>
              <a:gd name="adj" fmla="val 6964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51084" y="37696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Totals Logic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51084" y="4260056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MidpointRounding.AwayFromZero for consistent calculations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93790" y="5107067"/>
            <a:ext cx="7556421" cy="1367909"/>
          </a:xfrm>
          <a:prstGeom prst="roundRect">
            <a:avLst>
              <a:gd name="adj" fmla="val 6964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51084" y="5364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Financial Correctness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51084" y="5854779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Ensures accurate monetary calculations across all transactions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2683073"/>
            <a:ext cx="4919305" cy="286345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9275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Audit &amp; Persistence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2976443"/>
            <a:ext cx="3664744" cy="1730812"/>
          </a:xfrm>
          <a:prstGeom prst="roundRect">
            <a:avLst>
              <a:gd name="adj" fmla="val 5504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51084" y="3233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Claim Fields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51084" y="3724156"/>
            <a:ext cx="31501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Title, DateOfExpense, Category, Total, Status, CreatedAt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4685348" y="2976443"/>
            <a:ext cx="3664863" cy="1730812"/>
          </a:xfrm>
          <a:prstGeom prst="roundRect">
            <a:avLst>
              <a:gd name="adj" fmla="val 5504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942642" y="3233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Relational Data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942642" y="3724156"/>
            <a:ext cx="31502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Claim, ClaimDocument, Lecturer models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934069"/>
            <a:ext cx="7556421" cy="1367909"/>
          </a:xfrm>
          <a:prstGeom prst="roundRect">
            <a:avLst>
              <a:gd name="adj" fmla="val 6964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51084" y="51913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Schema Evolution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051084" y="5681782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Migrations and database versioning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2996565"/>
            <a:ext cx="4919305" cy="223647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9275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QA &amp; Testing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2976443"/>
            <a:ext cx="3664744" cy="1730812"/>
          </a:xfrm>
          <a:prstGeom prst="roundRect">
            <a:avLst>
              <a:gd name="adj" fmla="val 5504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51084" y="3233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xUnit Tests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51084" y="3724156"/>
            <a:ext cx="31501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unit testing framework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4685348" y="2976443"/>
            <a:ext cx="3664863" cy="1730812"/>
          </a:xfrm>
          <a:prstGeom prst="roundRect">
            <a:avLst>
              <a:gd name="adj" fmla="val 5504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942642" y="3233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Test Coverage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942642" y="3724156"/>
            <a:ext cx="31502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Totals, multi-doc handling, access control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934069"/>
            <a:ext cx="7556421" cy="1367909"/>
          </a:xfrm>
          <a:prstGeom prst="roundRect">
            <a:avLst>
              <a:gd name="adj" fmla="val 6964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51084" y="51913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Reliability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051084" y="5681782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approval/rejection and downloads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2114907"/>
            <a:ext cx="4919305" cy="399966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927503"/>
            <a:ext cx="64825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UX Details &amp; Accessibility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2976443"/>
            <a:ext cx="3664744" cy="1730812"/>
          </a:xfrm>
          <a:prstGeom prst="roundRect">
            <a:avLst>
              <a:gd name="adj" fmla="val 5504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51084" y="3233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Dashboard Features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51084" y="3724156"/>
            <a:ext cx="31501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Search/filter and status badges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4685348" y="2976443"/>
            <a:ext cx="3664863" cy="1730812"/>
          </a:xfrm>
          <a:prstGeom prst="roundRect">
            <a:avLst>
              <a:gd name="adj" fmla="val 5504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942642" y="3233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Modern Interface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942642" y="3724156"/>
            <a:ext cx="3150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Contemporary navbar design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934069"/>
            <a:ext cx="3664744" cy="1367909"/>
          </a:xfrm>
          <a:prstGeom prst="roundRect">
            <a:avLst>
              <a:gd name="adj" fmla="val 6964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51084" y="51913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Notifications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051084" y="5681782"/>
            <a:ext cx="31501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user feedback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4685348" y="4934069"/>
            <a:ext cx="3664863" cy="1367909"/>
          </a:xfrm>
          <a:prstGeom prst="roundRect">
            <a:avLst>
              <a:gd name="adj" fmla="val 6964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42642" y="51913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Responsive Design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942642" y="5681782"/>
            <a:ext cx="3150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and desktop optimized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3428"/>
            <a:ext cx="726709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AI Chatbot — Q&amp;A and PDF Analysis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755815"/>
            <a:ext cx="63000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Widget embedded on dashboards Shared/_Chatbot.cshtml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109549"/>
            <a:ext cx="63000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Endpoint POST /Chat/Ask for role-aware queries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3790" y="2463284"/>
            <a:ext cx="63000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PDF invoice total extraction PdfPig text parsing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3790" y="2817019"/>
            <a:ext cx="63000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Claims analytics by timeframe and role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3790" y="3170753"/>
            <a:ext cx="63000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Productivity boost: quick insights, less manual checking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4157" y="1796653"/>
            <a:ext cx="4875609" cy="50219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44157" y="7022663"/>
            <a:ext cx="63000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8622"/>
            <a:ext cx="454830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Live Demo Plan &amp; Roadmap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878330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Demo Flow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394109"/>
            <a:ext cx="147399" cy="1473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3790" y="2610922"/>
            <a:ext cx="4249341" cy="1524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271510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Lecturer submits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93790" y="3033832"/>
            <a:ext cx="424934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Lecturer submits their monthly claim with all required details and attachments.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0530" y="2394109"/>
            <a:ext cx="147399" cy="14739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190530" y="2610922"/>
            <a:ext cx="4249341" cy="1524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0" name="Text 6"/>
          <p:cNvSpPr/>
          <p:nvPr/>
        </p:nvSpPr>
        <p:spPr>
          <a:xfrm>
            <a:off x="5190530" y="271510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Coordinator approves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190530" y="3033832"/>
            <a:ext cx="424934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 Coordinator reviews the claim and approves it.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7270" y="2394109"/>
            <a:ext cx="147399" cy="14739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587270" y="2610922"/>
            <a:ext cx="4249341" cy="1524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4" name="Text 9"/>
          <p:cNvSpPr/>
          <p:nvPr/>
        </p:nvSpPr>
        <p:spPr>
          <a:xfrm>
            <a:off x="9587270" y="271510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Manager reviews KPIs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9587270" y="3033832"/>
            <a:ext cx="424934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Academic Manager reviews key performance indicators related to claims.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3781544"/>
            <a:ext cx="147399" cy="147399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93790" y="3998357"/>
            <a:ext cx="6447711" cy="1524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8" name="Text 12"/>
          <p:cNvSpPr/>
          <p:nvPr/>
        </p:nvSpPr>
        <p:spPr>
          <a:xfrm>
            <a:off x="793790" y="4102537"/>
            <a:ext cx="204216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HR exports &amp; marks paid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93790" y="4421267"/>
            <a:ext cx="644771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HR department exports approved claims and marks them as paid.</a:t>
            </a:r>
            <a:endParaRPr lang="en-US" sz="11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88900" y="3781544"/>
            <a:ext cx="147399" cy="147399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388900" y="3998357"/>
            <a:ext cx="6447711" cy="1524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22" name="Text 15"/>
          <p:cNvSpPr/>
          <p:nvPr/>
        </p:nvSpPr>
        <p:spPr>
          <a:xfrm>
            <a:off x="7388900" y="4102537"/>
            <a:ext cx="366033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Chatbot extracts total from uploaded invoice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7388900" y="4421267"/>
            <a:ext cx="644771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Chatbot automatically extracts the total amount from an uploaded invoice.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793790" y="4988600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Roadmap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93790" y="5486043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OCR for scanned PDFs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793790" y="5773341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Non-PDF parsing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793790" y="6060638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analytics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93790" y="6347936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logging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793790" y="6635234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Payroll integration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2025-11-19T20:15:14Z</dcterms:created>
  <dcterms:modified xsi:type="dcterms:W3CDTF">2025-11-19T20:15:14Z</dcterms:modified>
</cp:coreProperties>
</file>